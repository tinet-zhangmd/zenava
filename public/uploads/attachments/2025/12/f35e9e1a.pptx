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408" r:id="rId4"/>
    <p:sldId id="418" r:id="rId5"/>
    <p:sldId id="380" r:id="rId6"/>
    <p:sldId id="272" r:id="rId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3" userDrawn="1">
          <p15:clr>
            <a:srgbClr val="A4A3A4"/>
          </p15:clr>
        </p15:guide>
        <p15:guide id="2" pos="2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5F"/>
    <a:srgbClr val="646450"/>
    <a:srgbClr val="DCDCD2"/>
    <a:srgbClr val="A0A08C"/>
    <a:srgbClr val="EBEBE5"/>
    <a:srgbClr val="AAA591"/>
    <a:srgbClr val="EBAF6E"/>
    <a:srgbClr val="78775F"/>
    <a:srgbClr val="00A278"/>
    <a:srgbClr val="E187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0" autoAdjust="0"/>
    <p:restoredTop sz="85461" autoAdjust="0"/>
  </p:normalViewPr>
  <p:slideViewPr>
    <p:cSldViewPr>
      <p:cViewPr varScale="1">
        <p:scale>
          <a:sx n="95" d="100"/>
          <a:sy n="95" d="100"/>
        </p:scale>
        <p:origin x="624" y="184"/>
      </p:cViewPr>
      <p:guideLst>
        <p:guide orient="horz" pos="1593"/>
        <p:guide pos="28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908D5-C41D-4D38-8B48-5AFE471E15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705BC-6797-4344-ADF0-9DFC88F4EC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hemeOverride" Target="../theme/themeOverride1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anwei\Documents\Ti-Net\市场\品牌\成稿\PPT-封面.jp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618" y="0"/>
            <a:ext cx="9112643" cy="5143500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Font typeface="Arial" panose="020B0604020202090204" pitchFamily="34" charset="0"/>
              <a:buNone/>
              <a:defRPr lang="zh-CN" altLang="en-US" sz="3600" b="1" kern="1200" dirty="0">
                <a:solidFill>
                  <a:srgbClr val="00825F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938736"/>
            <a:ext cx="6400800" cy="50522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zh-CN" altLang="en-US" sz="1800" b="0" kern="1200" dirty="0">
                <a:solidFill>
                  <a:srgbClr val="00825F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单击此处编辑母版注脚样式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9B3C3-D605-4CD9-9803-7C80A9FCF1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7794-1080-4E46-BC13-C28487121187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286512" y="285734"/>
            <a:ext cx="2571768" cy="857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538" y="229653"/>
            <a:ext cx="1945994" cy="71666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panwei\Documents\Ti-Net\市场\品牌\成稿\PPT-内页.jp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126" y="0"/>
            <a:ext cx="9121746" cy="5143500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592" y="210745"/>
            <a:ext cx="6120680" cy="57971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Font typeface="Arial" panose="020B0604020202090204" pitchFamily="34" charset="0"/>
              <a:buNone/>
              <a:defRPr lang="zh-CN" altLang="en-US" sz="2400" b="1" kern="1200" dirty="0">
                <a:solidFill>
                  <a:srgbClr val="00825F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2591" y="945189"/>
            <a:ext cx="8500939" cy="3649434"/>
          </a:xfrm>
        </p:spPr>
        <p:txBody>
          <a:bodyPr>
            <a:normAutofit/>
          </a:bodyPr>
          <a:lstStyle>
            <a:lvl1pPr>
              <a:defRPr lang="zh-CN" altLang="en-US" sz="2000" b="0" kern="1200" dirty="0" smtClean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>
              <a:buFont typeface="Wingdings" panose="05000000000000000000" pitchFamily="2" charset="2"/>
              <a:buChar char="ü"/>
              <a:defRPr lang="zh-CN" altLang="en-US" sz="1800" b="0" kern="1200" dirty="0" smtClean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2pPr>
            <a:lvl3pPr>
              <a:buFont typeface="Wingdings" panose="05000000000000000000" pitchFamily="2" charset="2"/>
              <a:buChar char="n"/>
              <a:defRPr lang="zh-CN" altLang="en-US" sz="1600" b="0" kern="1200" dirty="0" smtClean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3pPr>
            <a:lvl4pPr>
              <a:defRPr lang="zh-CN" altLang="en-US" sz="1400" b="0" kern="1200" dirty="0" smtClean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4pPr>
            <a:lvl5pPr>
              <a:defRPr lang="zh-CN" altLang="en-US" sz="1200" b="0" kern="1200" dirty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9B3C3-D605-4CD9-9803-7C80A9FCF1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7794-1080-4E46-BC13-C28487121187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918326" y="261926"/>
            <a:ext cx="2049788" cy="683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082" y="229653"/>
            <a:ext cx="1471449" cy="5418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9B3C3-D605-4CD9-9803-7C80A9FCF1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7794-1080-4E46-BC13-C28487121187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1475656" y="2283718"/>
            <a:ext cx="6120680" cy="579711"/>
          </a:xfrm>
        </p:spPr>
        <p:txBody>
          <a:bodyPr>
            <a:noAutofit/>
          </a:bodyPr>
          <a:lstStyle>
            <a:lvl1pPr>
              <a:defRPr lang="zh-CN" altLang="en-US" sz="2400" b="1" kern="1200" dirty="0">
                <a:solidFill>
                  <a:srgbClr val="00825F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algn="ctr"/>
            <a:r>
              <a:rPr kumimoji="1" lang="zh-CN" altLang="en-US" sz="3600" dirty="0"/>
              <a:t>传统呼叫中心的挑战</a:t>
            </a:r>
            <a:endParaRPr kumimoji="1" lang="zh-CN" altLang="en-US" sz="3600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082" y="229653"/>
            <a:ext cx="1471449" cy="5418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9B3C3-D605-4CD9-9803-7C80A9FCF1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7794-1080-4E46-BC13-C284871211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9B3C3-D605-4CD9-9803-7C80A9FCF1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F7794-1080-4E46-BC13-C2848712118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png"/><Relationship Id="rId2" Type="http://schemas.openxmlformats.org/officeDocument/2006/relationships/hyperlink" Target="http://www.ti-net.com.cn/" TargetMode="Externa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57263"/>
            <a:ext cx="7772400" cy="1102519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825F"/>
                </a:solidFill>
              </a:rPr>
              <a:t>观测云使用</a:t>
            </a:r>
            <a:r>
              <a:rPr lang="zh-CN" altLang="en-US" dirty="0">
                <a:solidFill>
                  <a:srgbClr val="00825F"/>
                </a:solidFill>
              </a:rPr>
              <a:t>分享</a:t>
            </a:r>
            <a:endParaRPr lang="zh-CN" altLang="en-US" dirty="0">
              <a:solidFill>
                <a:srgbClr val="00825F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633564"/>
            <a:ext cx="6400800" cy="1314450"/>
          </a:xfrm>
        </p:spPr>
        <p:txBody>
          <a:bodyPr>
            <a:normAutofit/>
          </a:bodyPr>
          <a:lstStyle/>
          <a:p>
            <a:r>
              <a:rPr lang="zh-CN" altLang="en-US" sz="1800" b="0" dirty="0">
                <a:solidFill>
                  <a:srgbClr val="00825F"/>
                </a:solidFill>
              </a:rPr>
              <a:t>北京天润融通科技股份有限公司</a:t>
            </a:r>
            <a:endParaRPr lang="en-US" altLang="zh-CN" sz="1800" b="0" dirty="0">
              <a:solidFill>
                <a:srgbClr val="00825F"/>
              </a:solidFill>
            </a:endParaRPr>
          </a:p>
          <a:p>
            <a:endParaRPr lang="zh-CN" altLang="en-US" sz="1800" b="0" dirty="0">
              <a:solidFill>
                <a:srgbClr val="00825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80000" y="1440000"/>
            <a:ext cx="24428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dirty="0" smtClean="0">
                <a:solidFill>
                  <a:srgbClr val="646450"/>
                </a:solidFill>
                <a:latin typeface="+mj-ea"/>
                <a:ea typeface="+mj-ea"/>
              </a:rPr>
              <a:t>1.</a:t>
            </a:r>
            <a:r>
              <a:rPr lang="zh-CN" altLang="en-US" dirty="0" smtClean="0">
                <a:solidFill>
                  <a:srgbClr val="646450"/>
                </a:solidFill>
                <a:latin typeface="+mj-ea"/>
                <a:ea typeface="+mj-ea"/>
                <a:sym typeface="+mn-ea"/>
              </a:rPr>
              <a:t>用户访问监控查看器</a:t>
            </a:r>
            <a:endParaRPr lang="zh-CN" altLang="en-US" dirty="0" smtClean="0">
              <a:solidFill>
                <a:srgbClr val="646450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80000" y="2160000"/>
            <a:ext cx="10712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dirty="0" smtClean="0">
                <a:solidFill>
                  <a:srgbClr val="646450"/>
                </a:solidFill>
                <a:latin typeface="+mj-ea"/>
                <a:ea typeface="+mj-ea"/>
              </a:rPr>
              <a:t>2.</a:t>
            </a:r>
            <a:r>
              <a:rPr lang="zh-CN" altLang="en-US" dirty="0" smtClean="0">
                <a:solidFill>
                  <a:srgbClr val="646450"/>
                </a:solidFill>
                <a:latin typeface="+mj-ea"/>
                <a:ea typeface="+mj-ea"/>
              </a:rPr>
              <a:t>仪表板</a:t>
            </a:r>
            <a:endParaRPr lang="zh-CN" altLang="en-US" dirty="0" smtClean="0">
              <a:solidFill>
                <a:srgbClr val="646450"/>
              </a:solidFill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80000" y="2880000"/>
            <a:ext cx="17570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dirty="0" smtClean="0">
                <a:solidFill>
                  <a:srgbClr val="646450"/>
                </a:solidFill>
                <a:latin typeface="+mj-ea"/>
                <a:ea typeface="+mj-ea"/>
              </a:rPr>
              <a:t>3.</a:t>
            </a:r>
            <a:r>
              <a:rPr lang="zh-CN" altLang="en-US" dirty="0" smtClean="0">
                <a:solidFill>
                  <a:srgbClr val="646450"/>
                </a:solidFill>
                <a:latin typeface="+mj-ea"/>
                <a:ea typeface="+mj-ea"/>
              </a:rPr>
              <a:t>管理相关</a:t>
            </a:r>
            <a:r>
              <a:rPr lang="zh-CN" altLang="en-US" dirty="0" smtClean="0">
                <a:solidFill>
                  <a:srgbClr val="646450"/>
                </a:solidFill>
                <a:latin typeface="+mj-ea"/>
                <a:ea typeface="+mj-ea"/>
              </a:rPr>
              <a:t>功能</a:t>
            </a:r>
            <a:endParaRPr lang="zh-CN" altLang="en-US" dirty="0" smtClean="0">
              <a:solidFill>
                <a:srgbClr val="64645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dirty="0"/>
              <a:t>仪表板</a:t>
            </a:r>
            <a:endParaRPr kumimoji="1" dirty="0"/>
          </a:p>
        </p:txBody>
      </p:sp>
      <p:sp>
        <p:nvSpPr>
          <p:cNvPr id="4" name="文本框 3"/>
          <p:cNvSpPr txBox="1"/>
          <p:nvPr/>
        </p:nvSpPr>
        <p:spPr>
          <a:xfrm>
            <a:off x="1080000" y="1440000"/>
            <a:ext cx="15284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dirty="0" smtClean="0">
                <a:solidFill>
                  <a:srgbClr val="646450"/>
                </a:solidFill>
                <a:latin typeface="+mj-ea"/>
                <a:ea typeface="+mj-ea"/>
              </a:rPr>
              <a:t>1.</a:t>
            </a:r>
            <a:r>
              <a:rPr lang="zh-CN" altLang="en-US" dirty="0" smtClean="0">
                <a:solidFill>
                  <a:srgbClr val="646450"/>
                </a:solidFill>
                <a:latin typeface="+mj-ea"/>
                <a:ea typeface="+mj-ea"/>
              </a:rPr>
              <a:t>依赖包</a:t>
            </a:r>
            <a:r>
              <a:rPr lang="zh-CN" altLang="en-US" dirty="0" smtClean="0">
                <a:solidFill>
                  <a:srgbClr val="646450"/>
                </a:solidFill>
                <a:latin typeface="+mj-ea"/>
                <a:ea typeface="+mj-ea"/>
              </a:rPr>
              <a:t>管理</a:t>
            </a:r>
            <a:endParaRPr lang="zh-CN" altLang="en-US" dirty="0" smtClean="0">
              <a:solidFill>
                <a:srgbClr val="646450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80000" y="2160000"/>
            <a:ext cx="15386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dirty="0" smtClean="0">
                <a:solidFill>
                  <a:srgbClr val="646450"/>
                </a:solidFill>
                <a:latin typeface="+mj-ea"/>
                <a:ea typeface="+mj-ea"/>
              </a:rPr>
              <a:t>2.CSS</a:t>
            </a:r>
            <a:r>
              <a:rPr lang="zh-CN" altLang="en-US" dirty="0" smtClean="0">
                <a:solidFill>
                  <a:srgbClr val="646450"/>
                </a:solidFill>
                <a:latin typeface="+mj-ea"/>
                <a:ea typeface="+mj-ea"/>
              </a:rPr>
              <a:t>预处理</a:t>
            </a:r>
            <a:endParaRPr lang="zh-CN" altLang="en-US" dirty="0" smtClean="0">
              <a:solidFill>
                <a:srgbClr val="646450"/>
              </a:solidFill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80000" y="2880000"/>
            <a:ext cx="12998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dirty="0" smtClean="0">
                <a:solidFill>
                  <a:srgbClr val="646450"/>
                </a:solidFill>
                <a:latin typeface="+mj-ea"/>
                <a:ea typeface="+mj-ea"/>
              </a:rPr>
              <a:t>3.</a:t>
            </a:r>
            <a:r>
              <a:rPr lang="zh-CN" altLang="en-US" dirty="0" smtClean="0">
                <a:solidFill>
                  <a:srgbClr val="646450"/>
                </a:solidFill>
                <a:latin typeface="+mj-ea"/>
                <a:ea typeface="+mj-ea"/>
              </a:rPr>
              <a:t>环境</a:t>
            </a:r>
            <a:r>
              <a:rPr lang="zh-CN" altLang="en-US" dirty="0" smtClean="0">
                <a:solidFill>
                  <a:srgbClr val="646450"/>
                </a:solidFill>
                <a:latin typeface="+mj-ea"/>
                <a:ea typeface="+mj-ea"/>
              </a:rPr>
              <a:t>配置</a:t>
            </a:r>
            <a:endParaRPr lang="zh-CN" altLang="en-US" dirty="0" smtClean="0">
              <a:solidFill>
                <a:srgbClr val="64645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kumimoji="1" lang="zh-CN" altLang="en-US" sz="3600" dirty="0"/>
              <a:t>感谢</a:t>
            </a:r>
            <a:r>
              <a:rPr kumimoji="1" lang="zh-CN" altLang="en-US" sz="3600" dirty="0"/>
              <a:t>观看</a:t>
            </a:r>
            <a:endParaRPr kumimoji="1" lang="zh-CN" alt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47320" y="1635646"/>
            <a:ext cx="1256928" cy="1256928"/>
          </a:xfrm>
          <a:prstGeom prst="rect">
            <a:avLst/>
          </a:prstGeom>
          <a:noFill/>
        </p:spPr>
      </p:pic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637674" y="3358610"/>
            <a:ext cx="6309701" cy="89069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</a:rPr>
              <a:t>电           话：</a:t>
            </a:r>
            <a:r>
              <a:rPr lang="en-US" altLang="zh-CN" sz="1200" dirty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</a:rPr>
              <a:t>10109099</a:t>
            </a:r>
            <a:endParaRPr lang="en-US" altLang="zh-CN" sz="1200" dirty="0">
              <a:solidFill>
                <a:srgbClr val="64645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</a:rPr>
              <a:t>网           址：</a:t>
            </a:r>
            <a:r>
              <a:rPr lang="en-US" altLang="zh-CN" sz="1200" dirty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  <a:hlinkClick r:id="rId2"/>
              </a:rPr>
              <a:t>www.ti-net.com.cn</a:t>
            </a:r>
            <a:endParaRPr lang="en-US" altLang="zh-CN" sz="1200" dirty="0">
              <a:solidFill>
                <a:srgbClr val="64645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</a:rPr>
              <a:t>北京总公司：北京市亦庄经济技术开发区荣华南路</a:t>
            </a:r>
            <a:r>
              <a:rPr lang="en-US" altLang="zh-CN" sz="1200" dirty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200" dirty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</a:rPr>
              <a:t>号院大族广场</a:t>
            </a:r>
            <a:r>
              <a:rPr lang="en-US" altLang="zh-CN" sz="1200" dirty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</a:rPr>
              <a:t>T1-29</a:t>
            </a:r>
            <a:r>
              <a:rPr lang="zh-CN" altLang="en-US" sz="1200" dirty="0">
                <a:solidFill>
                  <a:srgbClr val="646450"/>
                </a:solidFill>
                <a:latin typeface="微软雅黑" pitchFamily="34" charset="-122"/>
                <a:ea typeface="微软雅黑" pitchFamily="34" charset="-122"/>
              </a:rPr>
              <a:t>层</a:t>
            </a:r>
            <a:endParaRPr lang="en-US" altLang="zh-CN" sz="1200" dirty="0">
              <a:solidFill>
                <a:srgbClr val="6464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661002"/>
            <a:ext cx="3744416" cy="13789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BAF6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825F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solidFill>
              <a:srgbClr val="646450"/>
            </a:solidFill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WPS 演示</Application>
  <PresentationFormat>全屏显示(16:9)</PresentationFormat>
  <Paragraphs>25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汉仪旗黑</vt:lpstr>
      <vt:lpstr>Franklin Gothic Book</vt:lpstr>
      <vt:lpstr>苹方-简</vt:lpstr>
      <vt:lpstr>宋体</vt:lpstr>
      <vt:lpstr>Arial Unicode MS</vt:lpstr>
      <vt:lpstr>Franklin Gothic Medium</vt:lpstr>
      <vt:lpstr>黑体</vt:lpstr>
      <vt:lpstr>汉仪中黑KW</vt:lpstr>
      <vt:lpstr>Calibri</vt:lpstr>
      <vt:lpstr>Helvetica Neue</vt:lpstr>
      <vt:lpstr>汉仪书宋二KW</vt:lpstr>
      <vt:lpstr>微软雅黑</vt:lpstr>
      <vt:lpstr>Office 主题</vt:lpstr>
      <vt:lpstr>Agent前端架构问题整理</vt:lpstr>
      <vt:lpstr>构建流：</vt:lpstr>
      <vt:lpstr>PowerPoint 演示文稿</vt:lpstr>
      <vt:lpstr>感谢观看</vt:lpstr>
      <vt:lpstr>PowerPoint 演示文稿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panwei</dc:creator>
  <cp:lastModifiedBy>W</cp:lastModifiedBy>
  <cp:revision>223</cp:revision>
  <dcterms:created xsi:type="dcterms:W3CDTF">2023-11-30T11:39:11Z</dcterms:created>
  <dcterms:modified xsi:type="dcterms:W3CDTF">2023-11-30T11:39:11Z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7F99A25FA0A5EBE605D26863209142CE</vt:lpwstr>
  </property>
  <property fmtid="{D5CDD505-2E9C-101B-9397-08002B2CF9AE}" pid="3" name="KSOProductBuildVer">
    <vt:lpwstr>2052-6.3.0.8471</vt:lpwstr>
  </property>
</Properties>
</file>